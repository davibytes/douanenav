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8" r:id="rId11"/>
    <p:sldId id="277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274" y="1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822960"/>
            <a:ext cx="900214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rPr lang="en-US" dirty="0"/>
              <a:t>DESIGN AND IMPLEMENTATION OF A DESTINATION VISUALIZER AND VERIFICATION SYSTEM FOR CAMEROON CUSTOMS</a:t>
            </a:r>
          </a:p>
          <a:p>
            <a:pPr>
              <a:defRPr sz="2700" b="1">
                <a:solidFill>
                  <a:srgbClr val="DDA740"/>
                </a:solidFill>
              </a:defRPr>
            </a:pPr>
            <a:r>
              <a:rPr lang="en-US" dirty="0"/>
              <a:t>(</a:t>
            </a:r>
            <a:r>
              <a:rPr lang="en-US" dirty="0" err="1"/>
              <a:t>DouaneNav</a:t>
            </a:r>
            <a:r>
              <a:rPr lang="en-US" dirty="0"/>
              <a:t>)</a:t>
            </a:r>
          </a:p>
          <a:p>
            <a:pPr>
              <a:defRPr sz="2900" b="1"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347472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CEBEC"/>
                </a:solidFill>
              </a:defRPr>
            </a:pPr>
            <a:r>
              <a:t>Bachelor's Degree in Software Engineering</a:t>
            </a:r>
          </a:p>
          <a:p>
            <a:pPr>
              <a:spcAft>
                <a:spcPts val="500"/>
              </a:spcAft>
              <a:defRPr sz="1300">
                <a:solidFill>
                  <a:srgbClr val="DCEBEC"/>
                </a:solidFill>
              </a:defRPr>
            </a:pPr>
            <a:r>
              <a:t>Presented by: EBENDA ASSENE MARTHE DAVIDA</a:t>
            </a:r>
          </a:p>
          <a:p>
            <a:pPr>
              <a:spcAft>
                <a:spcPts val="500"/>
              </a:spcAft>
              <a:defRPr sz="1300">
                <a:solidFill>
                  <a:srgbClr val="DCEBEC"/>
                </a:solidFill>
              </a:defRPr>
            </a:pPr>
            <a:r>
              <a:t>Academic Supervisor: Engr. ABANJI DIEUDONNE</a:t>
            </a:r>
          </a:p>
          <a:p>
            <a:pPr>
              <a:spcAft>
                <a:spcPts val="500"/>
              </a:spcAft>
              <a:defRPr sz="1300">
                <a:solidFill>
                  <a:srgbClr val="DCEBEC"/>
                </a:solidFill>
              </a:defRPr>
            </a:pPr>
            <a:r>
              <a:t>Professional Supervisor: Engr. MBAMITAT CHRISTIAN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10800347" y="3729067"/>
            <a:ext cx="2121569" cy="16975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-1161839" y="-340013"/>
            <a:ext cx="1893359" cy="12657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V="1">
            <a:off x="8273716" y="3609474"/>
            <a:ext cx="4648200" cy="36343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8658726" y="5029200"/>
            <a:ext cx="3878180" cy="28333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V="1">
            <a:off x="8658726" y="3729066"/>
            <a:ext cx="2141621" cy="13042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flipH="1">
            <a:off x="8909785" y="4286270"/>
            <a:ext cx="971349" cy="32299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H="1" flipV="1">
            <a:off x="9874115" y="4312875"/>
            <a:ext cx="516155" cy="26908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V="1">
            <a:off x="-96253" y="-481263"/>
            <a:ext cx="2141621" cy="13042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Presentation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" y="16733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4650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736592" y="16733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74650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Case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85632" y="16733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74650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Proposed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2608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7552" y="318211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2552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004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Review of Similar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92608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36592" y="318211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32552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004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Research Methodology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92608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85632" y="318211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32552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004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System Design &amp;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3484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87552" y="469087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76402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70915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Practical Implementation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43484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736592" y="469087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476402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70915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Future Work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4434840"/>
            <a:ext cx="3246120" cy="1024128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85632" y="469087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85632" y="476402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70915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3548"/>
                </a:solidFill>
              </a:defRPr>
            </a:pPr>
            <a:r>
              <a:t>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82E"/>
                </a:solidFill>
              </a:defRPr>
            </a:pPr>
            <a:r>
              <a:t>• Customs operations increasingly depend on digital systems for declaration processing and information management.</a:t>
            </a:r>
          </a:p>
          <a:p>
            <a:pPr>
              <a:spcAft>
                <a:spcPts val="1000"/>
              </a:spcAft>
              <a:defRPr sz="1900">
                <a:solidFill>
                  <a:srgbClr val="1E282E"/>
                </a:solidFill>
              </a:defRPr>
            </a:pPr>
            <a:r>
              <a:t>• Cameroon Customs evolved from PAGODE to SYDONIA/ASYCUDA and later to CAMCIS.</a:t>
            </a:r>
          </a:p>
          <a:p>
            <a:pPr>
              <a:spcAft>
                <a:spcPts val="1000"/>
              </a:spcAft>
              <a:defRPr sz="1900">
                <a:solidFill>
                  <a:srgbClr val="1E282E"/>
                </a:solidFill>
              </a:defRPr>
            </a:pPr>
            <a:r>
              <a:t>• CAMCIS supports declaration processing, while field operations benefit from faster mobile access to relevant declaration and destination information.</a:t>
            </a:r>
          </a:p>
          <a:p>
            <a:pPr>
              <a:spcAft>
                <a:spcPts val="1000"/>
              </a:spcAft>
              <a:defRPr sz="1900">
                <a:solidFill>
                  <a:srgbClr val="1E282E"/>
                </a:solidFill>
              </a:defRPr>
            </a:pPr>
            <a:r>
              <a:t>• DouaneNav was designed as a mobile-first decision support subsystem to complement—not replace—CAMCIS.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600200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Information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600200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Destination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600200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Inspection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93" y="5303520"/>
            <a:ext cx="1072582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3548"/>
                </a:solidFill>
              </a:defRPr>
            </a:pPr>
            <a:r>
              <a:rPr dirty="0"/>
              <a:t>Research problem: How can a mobile decision-support subsystem improve access to declaration information, destination </a:t>
            </a:r>
            <a:r>
              <a:rPr dirty="0" err="1"/>
              <a:t>visualisation</a:t>
            </a:r>
            <a:r>
              <a:rPr dirty="0"/>
              <a:t> and structured field inspection support?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34747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lang="en-US" dirty="0"/>
              <a:t>Textual destination information can be slower to interpret during field operations.</a:t>
            </a:r>
          </a:p>
          <a:p>
            <a:pPr>
              <a:defRPr sz="1300">
                <a:solidFill>
                  <a:srgbClr val="1E282E"/>
                </a:solidFill>
              </a:defRPr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34747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lang="en-US"/>
              <a:t>Officers may need to consult several pieces of declaration and shipment information before an inspection.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34747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lang="en-US" dirty="0"/>
              <a:t>A structured mobile workflow is needed to connect declarations, findings and evidence.</a:t>
            </a:r>
          </a:p>
          <a:p>
            <a:pPr>
              <a:defRPr sz="1300">
                <a:solidFill>
                  <a:srgbClr val="1E282E"/>
                </a:solidFill>
              </a:defRPr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2. Case Study: Cameroon Customs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11480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Host institution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9834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t>Cameroon Customs (Direction Générale des Douanes — DGD)</a:t>
            </a:r>
            <a:br/>
            <a:r>
              <a:t/>
            </a:r>
            <a:br/>
            <a:r>
              <a:t>Internship: Technical Service, Yaoundé</a:t>
            </a:r>
            <a:br/>
            <a:r>
              <a:t/>
            </a:r>
            <a:br/>
            <a:r>
              <a:t>22 July – 30 August 2026</a:t>
            </a:r>
            <a:br/>
            <a:r>
              <a:t/>
            </a:r>
            <a:br/>
            <a:r>
              <a:t>The internship provided practical exposure to the institutional and technical environment supporting customs digitalisation.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411480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087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CAMCIS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493776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t>CAMCIS remains the principal customs platform for declaration processing.</a:t>
            </a:r>
            <a:br/>
            <a:r>
              <a:t/>
            </a:r>
            <a:br/>
            <a:r>
              <a:t>DouaneNav is complementary:</a:t>
            </a:r>
            <a:br/>
            <a:r>
              <a:t>• retrieve declaration information</a:t>
            </a:r>
            <a:br/>
            <a:r>
              <a:t>• visualise destinations</a:t>
            </a:r>
            <a:br/>
            <a:r>
              <a:t>• support field inspection</a:t>
            </a:r>
            <a:br/>
            <a:r>
              <a:t>• manage reports</a:t>
            </a:r>
            <a:br/>
            <a:r>
              <a:t>• support future authorised synchronisation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990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rPr lang="en-GB" dirty="0" smtClean="0"/>
              <a:t>3</a:t>
            </a:r>
            <a:r>
              <a:rPr dirty="0" smtClean="0"/>
              <a:t>. </a:t>
            </a:r>
            <a:r>
              <a:rPr dirty="0"/>
              <a:t>Proposed Solution: </a:t>
            </a:r>
            <a:r>
              <a:rPr dirty="0" err="1"/>
              <a:t>DouaneNav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41248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18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2606040"/>
            <a:ext cx="160934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/>
              <a:t>Authenticate</a:t>
            </a:r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Secure role-based access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1991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2606040"/>
            <a:ext cx="171907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/>
              <a:t>Retrieve</a:t>
            </a:r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Search and open a declaration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736592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4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9392" y="2606040"/>
            <a:ext cx="160405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 err="1"/>
              <a:t>Visualise</a:t>
            </a:r>
            <a:endParaRPr dirty="0"/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Display the declared destination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684264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4264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27064" y="2606040"/>
            <a:ext cx="160549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/>
              <a:t>Inspect</a:t>
            </a:r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Record status, findings and evidence</a:t>
            </a:r>
          </a:p>
        </p:txBody>
      </p:sp>
      <p:sp>
        <p:nvSpPr>
          <p:cNvPr id="20" name="Oval 19"/>
          <p:cNvSpPr/>
          <p:nvPr/>
        </p:nvSpPr>
        <p:spPr>
          <a:xfrm>
            <a:off x="8631936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31936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74736" y="2606040"/>
            <a:ext cx="1606938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/>
              <a:t>Report</a:t>
            </a:r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Create a structured inspection report</a:t>
            </a:r>
          </a:p>
        </p:txBody>
      </p:sp>
      <p:sp>
        <p:nvSpPr>
          <p:cNvPr id="24" name="Oval 23"/>
          <p:cNvSpPr/>
          <p:nvPr/>
        </p:nvSpPr>
        <p:spPr>
          <a:xfrm>
            <a:off x="10579607" y="1417320"/>
            <a:ext cx="713232" cy="7132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79607" y="1600200"/>
            <a:ext cx="713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331720"/>
            <a:ext cx="1828800" cy="210312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22407" y="2606040"/>
            <a:ext cx="160934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3548"/>
                </a:solidFill>
              </a:defRPr>
            </a:pPr>
            <a:r>
              <a:rPr dirty="0"/>
              <a:t>Review</a:t>
            </a:r>
          </a:p>
          <a:p>
            <a:pPr algn="ctr">
              <a:defRPr sz="1100">
                <a:solidFill>
                  <a:srgbClr val="5C676D"/>
                </a:solidFill>
              </a:defRPr>
            </a:pPr>
            <a:r>
              <a:rPr dirty="0"/>
              <a:t>Supervisor/Administrator access via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4177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rPr lang="en-GB" dirty="0" smtClean="0"/>
              <a:t>4</a:t>
            </a:r>
            <a:r>
              <a:rPr dirty="0" smtClean="0"/>
              <a:t>. </a:t>
            </a:r>
            <a:r>
              <a:rPr dirty="0"/>
              <a:t>Review of Similar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194560" cy="502920"/>
          </a:xfrm>
          <a:prstGeom prst="rect">
            <a:avLst/>
          </a:prstGeom>
          <a:solidFill>
            <a:srgbClr val="0E35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1" y="1417320"/>
            <a:ext cx="2048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System /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1325880"/>
            <a:ext cx="3840480" cy="502920"/>
          </a:xfrm>
          <a:prstGeom prst="rect">
            <a:avLst/>
          </a:prstGeom>
          <a:solidFill>
            <a:srgbClr val="0E35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07791" y="1417320"/>
            <a:ext cx="3694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Main Strength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25880"/>
            <a:ext cx="4846320" cy="502920"/>
          </a:xfrm>
          <a:prstGeom prst="rect">
            <a:avLst/>
          </a:prstGeom>
          <a:solidFill>
            <a:srgbClr val="0E35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417320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Limitation for this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19456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20240"/>
            <a:ext cx="2011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CAMCIS / customs platforms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384048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9" y="1920240"/>
            <a:ext cx="3657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Electronic customs declaration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828800"/>
            <a:ext cx="484632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59" y="1920240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Not designed as the proposed mobile field-support subsystem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21945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971800"/>
            <a:ext cx="2011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ASYCUDA / SYDONIA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2880360"/>
            <a:ext cx="3840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79" y="2971800"/>
            <a:ext cx="3657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Automates customs and trade procedures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880360"/>
            <a:ext cx="4846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59" y="2971800"/>
            <a:ext cx="46634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Broad customs platform; not focused on the destination-to-inspection mobile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219456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4023359"/>
            <a:ext cx="2011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Citymapper concept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3931920"/>
            <a:ext cx="384048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79" y="4023359"/>
            <a:ext cx="3657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Clear map-based destination visualisation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931920"/>
            <a:ext cx="4846320" cy="1051560"/>
          </a:xfrm>
          <a:prstGeom prst="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59" y="4023359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General navigation; not designed for customs declarations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83479"/>
            <a:ext cx="21945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19" y="5074919"/>
            <a:ext cx="2011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Digital inspection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4983479"/>
            <a:ext cx="3840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79" y="5074919"/>
            <a:ext cx="3657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Structured findings and evidence recording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983479"/>
            <a:ext cx="4846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59" y="5074919"/>
            <a:ext cx="4663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82E"/>
                </a:solidFill>
              </a:defRPr>
            </a:pPr>
            <a:r>
              <a:t>Often separate from declaration retrieval and destination 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1600"/>
            <a:ext cx="12191695" cy="109728"/>
          </a:xfrm>
          <a:prstGeom prst="rect">
            <a:avLst/>
          </a:prstGeom>
          <a:solidFill>
            <a:srgbClr val="12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5. Research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463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t>Problem identification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15468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3291840"/>
            <a:ext cx="146304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rPr dirty="0"/>
              <a:t>Documentary review &amp; observation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1965960"/>
            <a:ext cx="1463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t>Requirements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15468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3291840"/>
            <a:ext cx="1463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t>System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1965960"/>
            <a:ext cx="14582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rPr dirty="0"/>
              <a:t>Iterative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3154680"/>
            <a:ext cx="1645920" cy="960120"/>
          </a:xfrm>
          <a:prstGeom prst="roundRect">
            <a:avLst/>
          </a:prstGeom>
          <a:solidFill>
            <a:srgbClr val="F4F7F8"/>
          </a:solidFill>
          <a:ln>
            <a:solidFill>
              <a:srgbClr val="12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3291840"/>
            <a:ext cx="1463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E3548"/>
                </a:solidFill>
              </a:defRPr>
            </a:pPr>
            <a:r>
              <a:t>Testing &amp;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474" y="4810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82E"/>
                </a:solidFill>
              </a:defRPr>
            </a:pPr>
            <a:r>
              <a:rPr dirty="0"/>
              <a:t>• Research design methodology adapted to a systems-development context.</a:t>
            </a:r>
          </a:p>
          <a:p>
            <a:pPr>
              <a:spcAft>
                <a:spcPts val="1000"/>
              </a:spcAft>
              <a:defRPr sz="1500">
                <a:solidFill>
                  <a:srgbClr val="1E282E"/>
                </a:solidFill>
              </a:defRPr>
            </a:pPr>
            <a:r>
              <a:rPr dirty="0"/>
              <a:t>• Data collection: observation during the internship and documentary review.</a:t>
            </a:r>
          </a:p>
          <a:p>
            <a:pPr>
              <a:spcAft>
                <a:spcPts val="1000"/>
              </a:spcAft>
              <a:defRPr sz="1500">
                <a:solidFill>
                  <a:srgbClr val="1E282E"/>
                </a:solidFill>
              </a:defRPr>
            </a:pPr>
            <a:r>
              <a:rPr dirty="0"/>
              <a:t>• Development methodology: Agile, selected for iterative development, testing and refinement.</a:t>
            </a:r>
          </a:p>
          <a:p>
            <a:pPr>
              <a:spcAft>
                <a:spcPts val="1000"/>
              </a:spcAft>
              <a:defRPr sz="1500">
                <a:solidFill>
                  <a:srgbClr val="1E282E"/>
                </a:solidFill>
              </a:defRPr>
            </a:pPr>
            <a:r>
              <a:rPr dirty="0"/>
              <a:t>• Evaluation: functional testing, unit testing and informal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6. System Design and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731520"/>
          </a:xfrm>
          <a:prstGeom prst="roundRect">
            <a:avLst/>
          </a:prstGeom>
          <a:solidFill>
            <a:srgbClr val="0E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2704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Customs Officer • Supervisor • Administrator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10789920" cy="731520"/>
          </a:xfrm>
          <a:prstGeom prst="roundRect">
            <a:avLst/>
          </a:prstGeom>
          <a:solidFill>
            <a:srgbClr val="12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4144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React Native Mobile App                                  React Web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37560"/>
            <a:ext cx="10789920" cy="731520"/>
          </a:xfrm>
          <a:prstGeom prst="roundRect">
            <a:avLst/>
          </a:prstGeom>
          <a:solidFill>
            <a:srgbClr val="28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Application / 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4728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Node.js • Express.js • Controllers • Services • Authentication • 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10789920" cy="731520"/>
          </a:xfrm>
          <a:prstGeom prst="roundRect">
            <a:avLst/>
          </a:prstGeom>
          <a:solidFill>
            <a:srgbClr val="1E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5312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4531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MongoDB • Declarations • Users • Inspections • Reports •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35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rPr dirty="0" smtClean="0"/>
              <a:t>Technology </a:t>
            </a:r>
            <a:r>
              <a:rPr dirty="0"/>
              <a:t>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51460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3548"/>
                </a:solidFill>
              </a:defRPr>
            </a:pPr>
            <a: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76D"/>
                </a:solidFill>
              </a:defRPr>
            </a:pPr>
            <a:r>
              <a:t>React Native + Expo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1417320"/>
            <a:ext cx="251460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21608" y="160020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3548"/>
                </a:solidFill>
              </a:defRPr>
            </a:pPr>
            <a: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608" y="21488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76D"/>
                </a:solidFill>
              </a:defRPr>
            </a:pPr>
            <a:r>
              <a:t>React.js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1417320"/>
            <a:ext cx="251460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4536" y="160020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3548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1488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76D"/>
                </a:solidFill>
              </a:defRPr>
            </a:pPr>
            <a:r>
              <a:t>Node.js + Express.js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0304" y="1417320"/>
            <a:ext cx="251460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27464" y="160020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3548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21488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76D"/>
                </a:solidFill>
              </a:defRPr>
            </a:pPr>
            <a:r>
              <a:t>MongoDB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153"/>
            <a:ext cx="251460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9403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3548"/>
                </a:solidFill>
              </a:defRPr>
            </a:pPr>
            <a: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42673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76D"/>
                </a:solidFill>
              </a:defRPr>
            </a:pPr>
            <a:r>
              <a:t>OpenStreetMap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14668" y="2577709"/>
            <a:ext cx="416235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rPr lang="en-GB" sz="8800" dirty="0" smtClean="0"/>
              <a:t>Practical</a:t>
            </a:r>
            <a:endParaRPr sz="8800" dirty="0"/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  <p:extLst>
      <p:ext uri="{BB962C8B-B14F-4D97-AF65-F5344CB8AC3E}">
        <p14:creationId xmlns:p14="http://schemas.microsoft.com/office/powerpoint/2010/main" val="54009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8.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rPr dirty="0" err="1"/>
              <a:t>Authorised</a:t>
            </a:r>
            <a:r>
              <a:rPr dirty="0"/>
              <a:t> live CAMCIS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92542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554480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rPr dirty="0"/>
              <a:t>Production-grade </a:t>
            </a:r>
            <a:r>
              <a:rPr dirty="0" err="1"/>
              <a:t>synchronisation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727448" y="2192541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1554480"/>
            <a:ext cx="31089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rPr dirty="0"/>
              <a:t>Enhanced AI document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197929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520440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rPr dirty="0"/>
              <a:t>Improved map and geocoding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00750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38328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3520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t>Expanded analytics and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023360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383280"/>
            <a:ext cx="342900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C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22208" y="3520440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3548"/>
                </a:solidFill>
              </a:defRPr>
            </a:pPr>
            <a:r>
              <a:rPr dirty="0"/>
              <a:t>Additional security, scalability and deployment hardening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135993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82E"/>
                </a:solidFill>
              </a:defRPr>
            </a:pPr>
            <a:r>
              <a:rPr dirty="0"/>
              <a:t>Future enhancement for institutional deployment and wider operational use.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3548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82E"/>
                </a:solidFill>
              </a:defRPr>
            </a:pPr>
            <a:r>
              <a:rPr dirty="0"/>
              <a:t>• </a:t>
            </a:r>
            <a:r>
              <a:rPr dirty="0" err="1"/>
              <a:t>DouaneNav</a:t>
            </a:r>
            <a:r>
              <a:rPr dirty="0"/>
              <a:t> demonstrates how a mobile-first decision-support subsystem can complement an existing customs information environment.</a:t>
            </a:r>
          </a:p>
          <a:p>
            <a:pPr>
              <a:spcAft>
                <a:spcPts val="1000"/>
              </a:spcAft>
              <a:defRPr sz="2000">
                <a:solidFill>
                  <a:srgbClr val="1E282E"/>
                </a:solidFill>
              </a:defRPr>
            </a:pPr>
            <a:r>
              <a:rPr dirty="0"/>
              <a:t>• The system connects declaration retrieval, destination </a:t>
            </a:r>
            <a:r>
              <a:rPr dirty="0" err="1"/>
              <a:t>visualisation</a:t>
            </a:r>
            <a:r>
              <a:rPr dirty="0"/>
              <a:t>, structured inspection and reporting in a single workflow.</a:t>
            </a:r>
          </a:p>
          <a:p>
            <a:pPr>
              <a:spcAft>
                <a:spcPts val="1000"/>
              </a:spcAft>
              <a:defRPr sz="2000">
                <a:solidFill>
                  <a:srgbClr val="1E282E"/>
                </a:solidFill>
              </a:defRPr>
            </a:pPr>
            <a:r>
              <a:rPr dirty="0"/>
              <a:t>• The project addresses a practical information-access and field-support need without attempting to replace CAMCIS.</a:t>
            </a:r>
          </a:p>
          <a:p>
            <a:pPr>
              <a:spcAft>
                <a:spcPts val="1000"/>
              </a:spcAft>
              <a:defRPr sz="2000">
                <a:solidFill>
                  <a:srgbClr val="1E282E"/>
                </a:solidFill>
              </a:defRPr>
            </a:pPr>
            <a:r>
              <a:rPr dirty="0"/>
              <a:t>• The academic prototype provides a foundation for future institutional evaluation, integration and enhancement.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892040"/>
            <a:ext cx="10149840" cy="914400"/>
          </a:xfrm>
          <a:prstGeom prst="roundRect">
            <a:avLst/>
          </a:prstGeom>
          <a:solidFill>
            <a:srgbClr val="0E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5138928"/>
            <a:ext cx="9738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 err="1"/>
              <a:t>DouaneNav</a:t>
            </a:r>
            <a:r>
              <a:rPr dirty="0"/>
              <a:t>: supporting better access to information, clearer destination awareness and structured customs field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76D"/>
                </a:solidFill>
              </a:defRPr>
            </a:pPr>
            <a:r>
              <a:t>DouaneNav — Destination Visualizer and Verification System for Cameroon Customs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2E8E9"/>
                </a:solidFill>
              </a:defRPr>
            </a:pPr>
            <a:r>
              <a:t>Questions and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4572000"/>
            <a:ext cx="3749039" cy="731520"/>
          </a:xfrm>
          <a:prstGeom prst="roundRect">
            <a:avLst/>
          </a:prstGeom>
          <a:solidFill>
            <a:srgbClr val="DDA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0" y="47365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E3548"/>
                </a:solidFill>
              </a:defRPr>
            </a:pPr>
            <a:r>
              <a:t>DouaneNav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808</Words>
  <Application>Microsoft Office PowerPoint</Application>
  <PresentationFormat>Grand écran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HP</dc:creator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2026-09-05T08:53:56Z</dcterms:modified>
  <cp:category/>
</cp:coreProperties>
</file>